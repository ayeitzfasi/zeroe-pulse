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5F4E78-9127-B743-907E-A43DC0E8E9C6}" v="6" dt="2025-03-14T08:20:03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5384-CBF7-8B16-DB7A-45D9C2EA2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GB" dirty="0"/>
              <a:t>Social Media Design Guide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66402B05-0F70-A3A5-151F-FB407A0F9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814" y="2594326"/>
            <a:ext cx="2098371" cy="68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EC599-AE2B-4670-5DD3-F29BA625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ountain with a pile of papers&#10;&#10;AI-generated content may be incorrect.">
            <a:extLst>
              <a:ext uri="{FF2B5EF4-FFF2-40B4-BE49-F238E27FC236}">
                <a16:creationId xmlns:a16="http://schemas.microsoft.com/office/drawing/2014/main" id="{7DAC2946-58B0-EFC6-BA95-ACE77D1DA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35" y="1309732"/>
            <a:ext cx="4682986" cy="2594172"/>
          </a:xfrm>
          <a:prstGeom prst="rect">
            <a:avLst/>
          </a:prstGeom>
        </p:spPr>
      </p:pic>
      <p:pic>
        <p:nvPicPr>
          <p:cNvPr id="7" name="Picture 6" descr="A close-up of a plug&#10;&#10;AI-generated content may be incorrect.">
            <a:extLst>
              <a:ext uri="{FF2B5EF4-FFF2-40B4-BE49-F238E27FC236}">
                <a16:creationId xmlns:a16="http://schemas.microsoft.com/office/drawing/2014/main" id="{8A11604A-B5E8-01D5-6DB6-52C039D9B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979" y="1309732"/>
            <a:ext cx="4682986" cy="26054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2FB1AF-ABE6-A007-7B05-0AC1F6CDCA68}"/>
              </a:ext>
            </a:extLst>
          </p:cNvPr>
          <p:cNvSpPr txBox="1"/>
          <p:nvPr/>
        </p:nvSpPr>
        <p:spPr>
          <a:xfrm>
            <a:off x="3479968" y="491448"/>
            <a:ext cx="53975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Black &amp; white images with blue accents</a:t>
            </a:r>
          </a:p>
          <a:p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A571D-DC7F-BC7E-F379-63BF4E14EC37}"/>
              </a:ext>
            </a:extLst>
          </p:cNvPr>
          <p:cNvSpPr txBox="1"/>
          <p:nvPr/>
        </p:nvSpPr>
        <p:spPr>
          <a:xfrm>
            <a:off x="6419042" y="4072120"/>
            <a:ext cx="491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Simple imagery used to convey simple message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53EFC-96C8-3924-B485-7E79D78C9CD3}"/>
              </a:ext>
            </a:extLst>
          </p:cNvPr>
          <p:cNvSpPr txBox="1"/>
          <p:nvPr/>
        </p:nvSpPr>
        <p:spPr>
          <a:xfrm>
            <a:off x="973035" y="4256786"/>
            <a:ext cx="46829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Chaotic AI-generated image with manual blue outline</a:t>
            </a:r>
          </a:p>
          <a:p>
            <a:r>
              <a:rPr lang="en-GB" dirty="0"/>
              <a:t>To demonstrate volumes of data or mountains of data.</a:t>
            </a:r>
            <a:br>
              <a:rPr lang="en-GB" dirty="0"/>
            </a:br>
            <a:r>
              <a:rPr lang="en-GB" dirty="0"/>
              <a:t>Images should talk to the metaphors.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D9BF39-F953-81FE-7D0C-2D077F856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42" y="4593228"/>
            <a:ext cx="3543300" cy="2019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AEFFC4-74F4-21A9-EEF7-85C7AFC82B97}"/>
              </a:ext>
            </a:extLst>
          </p:cNvPr>
          <p:cNvSpPr txBox="1"/>
          <p:nvPr/>
        </p:nvSpPr>
        <p:spPr>
          <a:xfrm>
            <a:off x="9983920" y="4725715"/>
            <a:ext cx="17425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“gated data or representing that they keep data to themselves &amp; don’t share”</a:t>
            </a:r>
          </a:p>
        </p:txBody>
      </p:sp>
    </p:spTree>
    <p:extLst>
      <p:ext uri="{BB962C8B-B14F-4D97-AF65-F5344CB8AC3E}">
        <p14:creationId xmlns:p14="http://schemas.microsoft.com/office/powerpoint/2010/main" val="2179770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D3DC0-9B12-6BAF-F2C0-54F4BF3A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416B94-5280-2D10-8E6A-35DB220756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56313" y="1484483"/>
            <a:ext cx="3138577" cy="4059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B646A6-7786-BDED-BCA7-F1B602AA81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18593" y="1601625"/>
            <a:ext cx="3138577" cy="4030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C78B15-59C0-5788-95A1-23D29D870E16}"/>
              </a:ext>
            </a:extLst>
          </p:cNvPr>
          <p:cNvSpPr txBox="1"/>
          <p:nvPr/>
        </p:nvSpPr>
        <p:spPr>
          <a:xfrm>
            <a:off x="3825601" y="5692001"/>
            <a:ext cx="55481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Nature images in frames with soft and smooth corners</a:t>
            </a:r>
          </a:p>
          <a:p>
            <a:r>
              <a:rPr lang="en-GB" dirty="0"/>
              <a:t>Light grey graphics to offset the white</a:t>
            </a:r>
          </a:p>
          <a:p>
            <a:r>
              <a:rPr lang="en-GB" dirty="0"/>
              <a:t>Blue accents where needed.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1C7576-033F-EAD3-7C01-1DB7302CB557}"/>
              </a:ext>
            </a:extLst>
          </p:cNvPr>
          <p:cNvSpPr txBox="1"/>
          <p:nvPr/>
        </p:nvSpPr>
        <p:spPr>
          <a:xfrm>
            <a:off x="2256313" y="609455"/>
            <a:ext cx="73399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/>
              <a:t>Info sheets and guides / social posts</a:t>
            </a:r>
          </a:p>
        </p:txBody>
      </p:sp>
    </p:spTree>
    <p:extLst>
      <p:ext uri="{BB962C8B-B14F-4D97-AF65-F5344CB8AC3E}">
        <p14:creationId xmlns:p14="http://schemas.microsoft.com/office/powerpoint/2010/main" val="577047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F7562-B379-E0F7-D311-D67EB44C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5A0A1DB-AF79-84B8-5DBA-726CCE092C7F}"/>
              </a:ext>
            </a:extLst>
          </p:cNvPr>
          <p:cNvSpPr txBox="1"/>
          <p:nvPr/>
        </p:nvSpPr>
        <p:spPr>
          <a:xfrm>
            <a:off x="4076585" y="1035721"/>
            <a:ext cx="47282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high contrast colours</a:t>
            </a:r>
            <a:br>
              <a:rPr lang="en-GB" dirty="0"/>
            </a:br>
            <a:r>
              <a:rPr lang="en-GB" dirty="0"/>
              <a:t>Soft curves</a:t>
            </a:r>
          </a:p>
          <a:p>
            <a:pPr algn="ctr"/>
            <a:r>
              <a:rPr lang="en-GB" dirty="0"/>
              <a:t>Subtle features to break up text where needed</a:t>
            </a:r>
          </a:p>
        </p:txBody>
      </p:sp>
      <p:pic>
        <p:nvPicPr>
          <p:cNvPr id="6" name="Picture 5" descr="A person smiling at camera&#10;&#10;AI-generated content may be incorrect.">
            <a:extLst>
              <a:ext uri="{FF2B5EF4-FFF2-40B4-BE49-F238E27FC236}">
                <a16:creationId xmlns:a16="http://schemas.microsoft.com/office/drawing/2014/main" id="{6D6DD1BE-34B3-0BD9-720D-9A5E2DC79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54" y="2293803"/>
            <a:ext cx="5178845" cy="2889645"/>
          </a:xfrm>
          <a:prstGeom prst="rect">
            <a:avLst/>
          </a:prstGeom>
        </p:spPr>
      </p:pic>
      <p:pic>
        <p:nvPicPr>
          <p:cNvPr id="10" name="Picture 9" descr="A screenshot of a webinar&#10;&#10;AI-generated content may be incorrect.">
            <a:extLst>
              <a:ext uri="{FF2B5EF4-FFF2-40B4-BE49-F238E27FC236}">
                <a16:creationId xmlns:a16="http://schemas.microsoft.com/office/drawing/2014/main" id="{531001EE-42B5-61C9-54FA-CEEB418E5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668" y="2293802"/>
            <a:ext cx="5177281" cy="28896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386BDC-3909-C89A-2CBB-11C9AAB9C447}"/>
              </a:ext>
            </a:extLst>
          </p:cNvPr>
          <p:cNvSpPr txBox="1"/>
          <p:nvPr/>
        </p:nvSpPr>
        <p:spPr>
          <a:xfrm>
            <a:off x="3203154" y="450946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/>
              <a:t>Speak and Event posts</a:t>
            </a:r>
          </a:p>
        </p:txBody>
      </p:sp>
    </p:spTree>
    <p:extLst>
      <p:ext uri="{BB962C8B-B14F-4D97-AF65-F5344CB8AC3E}">
        <p14:creationId xmlns:p14="http://schemas.microsoft.com/office/powerpoint/2010/main" val="1867633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71D06-6A31-E571-5436-DA576E604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A8BB91-E5DF-5B53-825C-EBE1D4A150A7}"/>
              </a:ext>
            </a:extLst>
          </p:cNvPr>
          <p:cNvSpPr txBox="1"/>
          <p:nvPr/>
        </p:nvSpPr>
        <p:spPr>
          <a:xfrm>
            <a:off x="4256778" y="1187308"/>
            <a:ext cx="4426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r>
              <a:rPr lang="en-GB" dirty="0"/>
              <a:t>Simple approved UI graphics and call-outs</a:t>
            </a:r>
          </a:p>
          <a:p>
            <a:pPr algn="ctr"/>
            <a:r>
              <a:rPr lang="en-GB" dirty="0"/>
              <a:t>The blue and dark grey backgrounds here are incorrect. They should be light grey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921CBC-BF02-19E3-B466-F490F7565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35" y="2614922"/>
            <a:ext cx="5309401" cy="3055770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DD0D72-E676-D20D-D459-B9D7441F9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20" y="2614922"/>
            <a:ext cx="5432480" cy="30557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A451C8-8764-A97A-2446-1168B169232F}"/>
              </a:ext>
            </a:extLst>
          </p:cNvPr>
          <p:cNvSpPr txBox="1"/>
          <p:nvPr/>
        </p:nvSpPr>
        <p:spPr>
          <a:xfrm>
            <a:off x="3126036" y="704334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/>
              <a:t>Platform and product posts</a:t>
            </a:r>
          </a:p>
        </p:txBody>
      </p:sp>
    </p:spTree>
    <p:extLst>
      <p:ext uri="{BB962C8B-B14F-4D97-AF65-F5344CB8AC3E}">
        <p14:creationId xmlns:p14="http://schemas.microsoft.com/office/powerpoint/2010/main" val="30748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F7D3E-2877-4675-BC0D-673857135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9862-86D2-84DB-745C-A3E6F25E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33" y="36472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2673F5"/>
                </a:solidFill>
              </a:rPr>
              <a:t>Brand Identity &amp; Visual Language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10E4BC-8183-B8D3-6EA5-2C0F9CE9E9CA}"/>
              </a:ext>
            </a:extLst>
          </p:cNvPr>
          <p:cNvSpPr txBox="1"/>
          <p:nvPr/>
        </p:nvSpPr>
        <p:spPr>
          <a:xfrm>
            <a:off x="453533" y="1691958"/>
            <a:ext cx="363372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673F5"/>
                </a:solidFill>
              </a:rPr>
              <a:t>1.1 Colour Palette</a:t>
            </a:r>
          </a:p>
          <a:p>
            <a:endParaRPr lang="en-GB" b="1" dirty="0">
              <a:solidFill>
                <a:srgbClr val="2673F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Primary Blue:</a:t>
            </a:r>
            <a:r>
              <a:rPr lang="en-GB" sz="1600" dirty="0"/>
              <a:t> #2673ea (Zeroe Blue) – Used for highlights, accents, and call-to-action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Black &amp; White:</a:t>
            </a:r>
            <a:r>
              <a:rPr lang="en-GB" sz="1600" dirty="0"/>
              <a:t> Used for contrast, typography, and professional aesthetics.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Light Grey Accents:</a:t>
            </a:r>
            <a:r>
              <a:rPr lang="en-GB" sz="1600" dirty="0"/>
              <a:t> Used to balance elements when needed.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CAAA4C-7087-3DA9-8B0E-D34FC597DF5C}"/>
              </a:ext>
            </a:extLst>
          </p:cNvPr>
          <p:cNvSpPr txBox="1"/>
          <p:nvPr/>
        </p:nvSpPr>
        <p:spPr>
          <a:xfrm>
            <a:off x="4291529" y="1690688"/>
            <a:ext cx="34290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673F5"/>
                </a:solidFill>
              </a:rPr>
              <a:t>1.2 Typography</a:t>
            </a:r>
          </a:p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Headline Font:</a:t>
            </a:r>
            <a:r>
              <a:rPr lang="en-GB" sz="1600" dirty="0"/>
              <a:t> Outfit (Bold, uppercase for emphasis)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Body Font:</a:t>
            </a:r>
            <a:r>
              <a:rPr lang="en-GB" sz="1600" dirty="0"/>
              <a:t> Geist (Light to Medium weight, easy to read)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Hierarchy: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Headlines should be </a:t>
            </a:r>
            <a:r>
              <a:rPr lang="en-GB" sz="1600" b="1" dirty="0"/>
              <a:t>bold and impactful</a:t>
            </a:r>
            <a:r>
              <a:rPr lang="en-GB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Subheadings should use </a:t>
            </a:r>
            <a:r>
              <a:rPr lang="en-GB" sz="1600" b="1" dirty="0"/>
              <a:t>medium weight</a:t>
            </a:r>
            <a:r>
              <a:rPr lang="en-GB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Body text should be </a:t>
            </a:r>
            <a:r>
              <a:rPr lang="en-GB" sz="1600" b="1" dirty="0"/>
              <a:t>clear and structured</a:t>
            </a:r>
            <a:r>
              <a:rPr lang="en-GB" sz="1600" dirty="0"/>
              <a:t>.</a:t>
            </a:r>
          </a:p>
          <a:p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6B142C-E8BA-3FE6-20BE-D339FEECBEC2}"/>
              </a:ext>
            </a:extLst>
          </p:cNvPr>
          <p:cNvSpPr txBox="1"/>
          <p:nvPr/>
        </p:nvSpPr>
        <p:spPr>
          <a:xfrm>
            <a:off x="8129071" y="1690688"/>
            <a:ext cx="360939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673F5"/>
                </a:solidFill>
              </a:rPr>
              <a:t>1.3 Logo Usage</a:t>
            </a:r>
          </a:p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The </a:t>
            </a:r>
            <a:r>
              <a:rPr lang="en-GB" sz="1600" b="1" dirty="0"/>
              <a:t>Zeroe logo</a:t>
            </a:r>
            <a:r>
              <a:rPr lang="en-GB" sz="1600" dirty="0"/>
              <a:t> should be placed in </a:t>
            </a:r>
            <a:r>
              <a:rPr lang="en-GB" sz="1600" b="1" dirty="0"/>
              <a:t>top-right or bottom-left corners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Maintain </a:t>
            </a:r>
            <a:r>
              <a:rPr lang="en-GB" sz="1600" b="1" dirty="0"/>
              <a:t>white space</a:t>
            </a:r>
            <a:r>
              <a:rPr lang="en-GB" sz="1600" dirty="0"/>
              <a:t> around the logo to avoid clutter.</a:t>
            </a:r>
          </a:p>
          <a:p>
            <a:endParaRPr lang="en-GB" b="1" dirty="0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41E35276-E59F-61B0-565A-DC1029E4B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017" y="6234467"/>
            <a:ext cx="788590" cy="25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5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EE84A-33BC-4350-4EF7-78402EE7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50A4-FE10-9922-21C0-7047E1A77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33" y="36472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2673F5"/>
                </a:solidFill>
              </a:rPr>
              <a:t>Visual Elements &amp; 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602055-FDB3-0A98-4CF9-1C3F7C4ACF90}"/>
              </a:ext>
            </a:extLst>
          </p:cNvPr>
          <p:cNvSpPr txBox="1"/>
          <p:nvPr/>
        </p:nvSpPr>
        <p:spPr>
          <a:xfrm>
            <a:off x="453533" y="1691958"/>
            <a:ext cx="363372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673F5"/>
                </a:solidFill>
              </a:rPr>
              <a:t>2.1 Design Toolbox</a:t>
            </a:r>
          </a:p>
          <a:p>
            <a:r>
              <a:rPr lang="en-GB" sz="1600" dirty="0"/>
              <a:t>Zeroe’s design elements should reflect innovation, clarity, and credibility. Designers have multiple visual options: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AI-Generated Black &amp; White Imagery</a:t>
            </a:r>
            <a:r>
              <a:rPr lang="en-GB" sz="1600" dirty="0"/>
              <a:t> with </a:t>
            </a:r>
            <a:r>
              <a:rPr lang="en-GB" sz="1600" b="1" dirty="0"/>
              <a:t>blue accents</a:t>
            </a:r>
            <a:r>
              <a:rPr lang="en-GB" sz="1600" dirty="0"/>
              <a:t> (optional, used for a high-tech feel).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Full-</a:t>
            </a:r>
            <a:r>
              <a:rPr lang="en-GB" sz="1600" b="1" dirty="0" err="1"/>
              <a:t>color</a:t>
            </a:r>
            <a:r>
              <a:rPr lang="en-GB" sz="1600" b="1" dirty="0"/>
              <a:t>, high-contrast images</a:t>
            </a:r>
            <a:r>
              <a:rPr lang="en-GB" sz="1600" dirty="0"/>
              <a:t> when showcasing UI elements or human-centric storytelling.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Abstract data-driven visuals</a:t>
            </a:r>
            <a:r>
              <a:rPr lang="en-GB" sz="1600" dirty="0"/>
              <a:t> for insights, statistics, and infographics.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UI Screens &amp; Graphical Elements</a:t>
            </a:r>
            <a:r>
              <a:rPr lang="en-GB" sz="1600" dirty="0"/>
              <a:t> with blue highlights for feature showcases.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Clean, structured layouts</a:t>
            </a:r>
            <a:r>
              <a:rPr lang="en-GB" sz="1600" dirty="0"/>
              <a:t> with proper alignment and hierarchy.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B66A3C-C179-5707-FB68-D9CCA7A36FA1}"/>
              </a:ext>
            </a:extLst>
          </p:cNvPr>
          <p:cNvSpPr txBox="1"/>
          <p:nvPr/>
        </p:nvSpPr>
        <p:spPr>
          <a:xfrm>
            <a:off x="4291529" y="1690688"/>
            <a:ext cx="34290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673F5"/>
                </a:solidFill>
              </a:rPr>
              <a:t>2.2 Use of Blue Accents</a:t>
            </a:r>
          </a:p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Blue should be used strategically to </a:t>
            </a:r>
            <a:r>
              <a:rPr lang="en-GB" sz="1600" b="1" dirty="0"/>
              <a:t>highlight key elements</a:t>
            </a:r>
            <a:r>
              <a:rPr lang="en-GB" sz="1600" dirty="0"/>
              <a:t>, such as callouts, UI features, and important stats.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 </a:t>
            </a:r>
            <a:r>
              <a:rPr lang="en-GB" sz="1600" b="1" dirty="0"/>
              <a:t>black-and-white images</a:t>
            </a:r>
            <a:r>
              <a:rPr lang="en-GB" sz="1600" dirty="0"/>
              <a:t>, blue outlines or flow elements should add a futuristic, data-driven feel.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Avoid overusing blue—keep it subtle and effective.</a:t>
            </a:r>
          </a:p>
          <a:p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7E01E-E6DA-D268-8338-E81DE3E61033}"/>
              </a:ext>
            </a:extLst>
          </p:cNvPr>
          <p:cNvSpPr txBox="1"/>
          <p:nvPr/>
        </p:nvSpPr>
        <p:spPr>
          <a:xfrm>
            <a:off x="8129071" y="1690688"/>
            <a:ext cx="3609396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673F5"/>
                </a:solidFill>
              </a:rPr>
              <a:t>2.3 Image &amp; Copy Cohesion</a:t>
            </a:r>
          </a:p>
          <a:p>
            <a:endParaRPr lang="en-GB" b="1" dirty="0"/>
          </a:p>
          <a:p>
            <a:r>
              <a:rPr lang="en-GB" sz="1600" dirty="0"/>
              <a:t>Every visual must align with the copy’s message. </a:t>
            </a:r>
            <a:r>
              <a:rPr lang="en-GB" sz="1600" b="1" dirty="0"/>
              <a:t>No random stock imagery.</a:t>
            </a:r>
            <a:br>
              <a:rPr lang="en-GB" sz="1600" b="1" dirty="0"/>
            </a:b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Pain Point Posts:</a:t>
            </a:r>
            <a:r>
              <a:rPr lang="en-GB" sz="1600" dirty="0"/>
              <a:t> Visuals should represent </a:t>
            </a:r>
            <a:r>
              <a:rPr lang="en-GB" sz="1600" b="1" dirty="0"/>
              <a:t>data silos, manual work struggles, or ESG complexity.</a:t>
            </a: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Solution Posts:</a:t>
            </a:r>
            <a:r>
              <a:rPr lang="en-GB" sz="1600" dirty="0"/>
              <a:t> Show </a:t>
            </a:r>
            <a:r>
              <a:rPr lang="en-GB" sz="1600" b="1" dirty="0"/>
              <a:t>automated workflows, simplified dashboards, and streamlined processes.</a:t>
            </a: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Industry Insights:</a:t>
            </a:r>
            <a:r>
              <a:rPr lang="en-GB" sz="1600" dirty="0"/>
              <a:t> Use </a:t>
            </a:r>
            <a:r>
              <a:rPr lang="en-GB" sz="1600" b="1" dirty="0"/>
              <a:t>graphs, clean numbers, and structured layouts.</a:t>
            </a: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Events &amp; Thought Leadership:</a:t>
            </a:r>
            <a:r>
              <a:rPr lang="en-GB" sz="1600" dirty="0"/>
              <a:t> Professional speaker images with blue highlights and clear event details.</a:t>
            </a:r>
          </a:p>
          <a:p>
            <a:endParaRPr lang="en-GB" b="1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0C49D70A-B53A-9AFB-24B4-294BE4ED9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017" y="6234467"/>
            <a:ext cx="788590" cy="25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92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AF82F-75C3-F516-DEE3-AA5DE3290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02C3-D941-FA6F-CB43-C0A600CAD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33" y="36472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2673F5"/>
                </a:solidFill>
              </a:rPr>
              <a:t>Post Types &amp; Their Visual Execution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3D51A-A04D-200B-EC29-2C6F7D0BF7C1}"/>
              </a:ext>
            </a:extLst>
          </p:cNvPr>
          <p:cNvSpPr txBox="1"/>
          <p:nvPr/>
        </p:nvSpPr>
        <p:spPr>
          <a:xfrm>
            <a:off x="1224714" y="1945346"/>
            <a:ext cx="5352356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673F5"/>
                </a:solidFill>
              </a:rPr>
              <a:t>3.1 Product Feature Posts </a:t>
            </a:r>
          </a:p>
          <a:p>
            <a:r>
              <a:rPr lang="en-GB" sz="1600" i="1" dirty="0"/>
              <a:t>“Platform showcase”</a:t>
            </a:r>
          </a:p>
          <a:p>
            <a:endParaRPr lang="en-GB" b="1" dirty="0">
              <a:solidFill>
                <a:srgbClr val="2673F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Copy Focus:</a:t>
            </a:r>
            <a:r>
              <a:rPr lang="en-GB" sz="1600" dirty="0"/>
              <a:t> Highlighting Zeroe’s platform automation and intelligence.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Visuals: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Clean </a:t>
            </a:r>
            <a:r>
              <a:rPr lang="en-GB" sz="1600" b="1" dirty="0"/>
              <a:t>UI screenshots</a:t>
            </a:r>
            <a:r>
              <a:rPr lang="en-GB" sz="1600" dirty="0"/>
              <a:t> with </a:t>
            </a:r>
            <a:r>
              <a:rPr lang="en-GB" sz="1600" b="1" dirty="0"/>
              <a:t>floating blue callouts</a:t>
            </a:r>
            <a:r>
              <a:rPr lang="en-GB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Minimalist tech imagery</a:t>
            </a:r>
            <a:r>
              <a:rPr lang="en-GB" sz="1600" dirty="0"/>
              <a:t> (e.g., data flows, dashboards in focus).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Example: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Copy: "Automate your sustainability reporting with Zeroe. No more chasing data."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Image: </a:t>
            </a:r>
            <a:r>
              <a:rPr lang="en-GB" sz="1600" b="1" dirty="0"/>
              <a:t>Zeroe dashboard with blue highlights on key data points</a:t>
            </a:r>
            <a:r>
              <a:rPr lang="en-GB" sz="1600" dirty="0"/>
              <a:t>.</a:t>
            </a:r>
          </a:p>
          <a:p>
            <a:endParaRPr lang="en-GB" b="1" dirty="0">
              <a:solidFill>
                <a:srgbClr val="2673F5"/>
              </a:solidFill>
            </a:endParaRP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13082B94-B42E-AA77-4CB3-384575539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017" y="6234467"/>
            <a:ext cx="788590" cy="258408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C89EC9-6C4D-0F4B-14B1-E4897632C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214" y="1377141"/>
            <a:ext cx="4094996" cy="2356832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B3C079-E5B7-808A-AC06-4D59C2AF2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288" y="3733973"/>
            <a:ext cx="3978848" cy="223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78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6421B-39ED-DBD8-B2DA-704BABF55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21FF-A519-149F-CDDD-8AE49FB9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33" y="36472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2673F5"/>
                </a:solidFill>
              </a:rPr>
              <a:t>Post Types &amp; Their Visual Execution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B2D0D-CD0B-575E-E7FD-7DEE653E6708}"/>
              </a:ext>
            </a:extLst>
          </p:cNvPr>
          <p:cNvSpPr txBox="1"/>
          <p:nvPr/>
        </p:nvSpPr>
        <p:spPr>
          <a:xfrm>
            <a:off x="1224714" y="1945346"/>
            <a:ext cx="535235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673F5"/>
                </a:solidFill>
              </a:rPr>
              <a:t>3.2 Pain Point Awareness Posts</a:t>
            </a:r>
          </a:p>
          <a:p>
            <a:r>
              <a:rPr lang="en-GB" sz="1800" i="1" dirty="0"/>
              <a:t>“</a:t>
            </a:r>
            <a:r>
              <a:rPr lang="en-GB" sz="1600" i="1" dirty="0"/>
              <a:t>Challenges in ESG &amp; Carbon accounting”</a:t>
            </a:r>
          </a:p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Copy Focus:</a:t>
            </a:r>
            <a:r>
              <a:rPr lang="en-GB" sz="1600" dirty="0"/>
              <a:t> Addressing common struggles like fragmented data and compliance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Visuals: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Black-and-white chaos visuals</a:t>
            </a:r>
            <a:r>
              <a:rPr lang="en-GB" sz="1600" dirty="0"/>
              <a:t> with a </a:t>
            </a:r>
            <a:r>
              <a:rPr lang="en-GB" sz="1600" b="1" dirty="0"/>
              <a:t>blue streamlined solution.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Comparisons:</a:t>
            </a:r>
            <a:r>
              <a:rPr lang="en-GB" sz="1600" dirty="0"/>
              <a:t> Before/After </a:t>
            </a:r>
            <a:r>
              <a:rPr lang="en-GB" sz="1600" dirty="0" err="1"/>
              <a:t>mockups</a:t>
            </a:r>
            <a:r>
              <a:rPr lang="en-GB" sz="1600" dirty="0"/>
              <a:t> of manual vs. automated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Example: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Copy: "Disconnected data makes emissions reporting a nightmare."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Image: </a:t>
            </a:r>
            <a:r>
              <a:rPr lang="en-GB" sz="1600" b="1" dirty="0"/>
              <a:t>Scattered spreadsheets (B&amp;W) vs. a unified Zeroe dashboard (blue highlighted).</a:t>
            </a:r>
            <a:endParaRPr lang="en-GB" sz="1600" dirty="0"/>
          </a:p>
          <a:p>
            <a:endParaRPr lang="en-GB" b="1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204AA486-5C4B-CA85-1611-7265B45E1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017" y="6234467"/>
            <a:ext cx="788590" cy="25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77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4E3F8-7F7D-9F54-C65E-0C564E35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B005-C4F5-5FAE-C946-76C49B26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33" y="36472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2673F5"/>
                </a:solidFill>
              </a:rPr>
              <a:t>Post Types &amp; Their Visual Execution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F7404-C1E5-EC8A-B8C8-B4969F8AECF0}"/>
              </a:ext>
            </a:extLst>
          </p:cNvPr>
          <p:cNvSpPr txBox="1"/>
          <p:nvPr/>
        </p:nvSpPr>
        <p:spPr>
          <a:xfrm>
            <a:off x="1224714" y="1945346"/>
            <a:ext cx="535235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673F5"/>
                </a:solidFill>
              </a:rPr>
              <a:t>3.3 Solution-orientated Posts</a:t>
            </a:r>
          </a:p>
          <a:p>
            <a:r>
              <a:rPr lang="en-GB" sz="1600" i="1" dirty="0"/>
              <a:t>“How Zeroe Fixes it”</a:t>
            </a:r>
          </a:p>
          <a:p>
            <a:endParaRPr lang="en-GB" sz="16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Copy Focus:</a:t>
            </a:r>
            <a:r>
              <a:rPr lang="en-GB" sz="1600" dirty="0"/>
              <a:t> Demonstrating Zeroe’s seamless, efficient solutions.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Visuals: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Before/After Split-Screen Designs</a:t>
            </a:r>
            <a:r>
              <a:rPr lang="en-GB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Flow diagrams with blue-highlighted automation paths.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Example: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Copy: "From spreadsheets to a single dashboard—Zeroe simplifies sustainability reporting."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Image: </a:t>
            </a:r>
            <a:r>
              <a:rPr lang="en-GB" sz="1600" b="1" dirty="0"/>
              <a:t>Before: Messy files → After: Zeroe dashboard with blue glow</a:t>
            </a:r>
            <a:endParaRPr lang="en-GB" sz="1600" dirty="0"/>
          </a:p>
          <a:p>
            <a:endParaRPr lang="en-GB" b="1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FB04C30E-B349-418A-31B4-E35B6B1D9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017" y="6234467"/>
            <a:ext cx="788590" cy="25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AA7EA-AB61-F9D3-E539-D938B7AD7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30C37-D954-8B73-AF81-1992F0AF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33" y="36472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2673F5"/>
                </a:solidFill>
              </a:rPr>
              <a:t>Post Types &amp; Their Visual Execution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51CB2-A1C3-12E0-921C-2AF76DD564CA}"/>
              </a:ext>
            </a:extLst>
          </p:cNvPr>
          <p:cNvSpPr txBox="1"/>
          <p:nvPr/>
        </p:nvSpPr>
        <p:spPr>
          <a:xfrm>
            <a:off x="1224714" y="1945346"/>
            <a:ext cx="5352356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673F5"/>
                </a:solidFill>
              </a:rPr>
              <a:t>3.4 Data-driven Insights &amp; industry stats</a:t>
            </a:r>
          </a:p>
          <a:p>
            <a:pPr>
              <a:buFont typeface="Arial" panose="020B0604020202020204" pitchFamily="34" charset="0"/>
              <a:buChar char="•"/>
            </a:pP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Copy Focus:</a:t>
            </a:r>
            <a:r>
              <a:rPr lang="en-GB" sz="1600" dirty="0"/>
              <a:t> Sharing relevant ESG data and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Visuals: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Minimalist stat designs</a:t>
            </a:r>
            <a:r>
              <a:rPr lang="en-GB" sz="1600" dirty="0"/>
              <a:t> with blue-highlighted numbers.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Infographics</a:t>
            </a:r>
            <a:r>
              <a:rPr lang="en-GB" sz="1600" dirty="0"/>
              <a:t> with clean, readable data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Example: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Copy: "95% of sustainability teams say emissions data is fragmented."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Image: </a:t>
            </a:r>
            <a:r>
              <a:rPr lang="en-GB" sz="1600" b="1" dirty="0"/>
              <a:t>Bold "95%" in blue with structured layout and a subtle data flow background.</a:t>
            </a:r>
            <a:endParaRPr lang="en-GB" sz="1600" dirty="0"/>
          </a:p>
          <a:p>
            <a:endParaRPr lang="en-GB" b="1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C3524C5A-42D9-08F8-FE8C-C44B55156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017" y="6234467"/>
            <a:ext cx="788590" cy="25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91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D962C-DABA-2574-EAA6-6764EBE3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12E1C-92B6-F2A6-877A-60486FAA6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33" y="36472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2673F5"/>
                </a:solidFill>
              </a:rPr>
              <a:t>Post Types &amp; Their Visual Execution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F9AC28-AA13-E6F3-E246-8B1A0261B129}"/>
              </a:ext>
            </a:extLst>
          </p:cNvPr>
          <p:cNvSpPr txBox="1"/>
          <p:nvPr/>
        </p:nvSpPr>
        <p:spPr>
          <a:xfrm>
            <a:off x="1224714" y="1945346"/>
            <a:ext cx="5352356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2673F5"/>
                </a:solidFill>
              </a:rPr>
              <a:t>3.5 Event &amp; Thought leadership promotions</a:t>
            </a:r>
          </a:p>
          <a:p>
            <a:pPr>
              <a:buFont typeface="Arial" panose="020B0604020202020204" pitchFamily="34" charset="0"/>
              <a:buChar char="•"/>
            </a:pP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Copy Focus:</a:t>
            </a:r>
            <a:r>
              <a:rPr lang="en-GB" sz="1600" dirty="0"/>
              <a:t> Promoting webinars, speaking events, and expert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Visuals: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Speaker headshots in black &amp; white with blue outlines.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Clear event details structured in blue highlights.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Example: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Copy: "Join Zeroe’s experts at the Dubai AI &amp; Web3 Festival."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Image: </a:t>
            </a:r>
            <a:r>
              <a:rPr lang="en-GB" sz="1600" b="1" dirty="0"/>
              <a:t>Event speaker image with blue glow and minimalistic typography.</a:t>
            </a:r>
            <a:endParaRPr lang="en-GB" sz="1600" dirty="0"/>
          </a:p>
          <a:p>
            <a:endParaRPr lang="en-GB" b="1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EB32ACFE-4263-9AFF-3767-33B3F6C84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017" y="6234467"/>
            <a:ext cx="788590" cy="258408"/>
          </a:xfrm>
          <a:prstGeom prst="rect">
            <a:avLst/>
          </a:prstGeom>
        </p:spPr>
      </p:pic>
      <p:pic>
        <p:nvPicPr>
          <p:cNvPr id="3" name="Picture 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EF861497-A653-A3D8-1FBE-9CC58975A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886" y="1861979"/>
            <a:ext cx="3356974" cy="1873094"/>
          </a:xfrm>
          <a:prstGeom prst="rect">
            <a:avLst/>
          </a:prstGeom>
        </p:spPr>
      </p:pic>
      <p:pic>
        <p:nvPicPr>
          <p:cNvPr id="5" name="Picture 4" descr="A screenshot of a webinar&#10;&#10;AI-generated content may be incorrect.">
            <a:extLst>
              <a:ext uri="{FF2B5EF4-FFF2-40B4-BE49-F238E27FC236}">
                <a16:creationId xmlns:a16="http://schemas.microsoft.com/office/drawing/2014/main" id="{B39D52E4-F256-30BE-5A3C-71AFBCDEB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886" y="4048223"/>
            <a:ext cx="3355960" cy="187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07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78E2D4CE23E2418B3CBD09E6BDD824" ma:contentTypeVersion="13" ma:contentTypeDescription="Create a new document." ma:contentTypeScope="" ma:versionID="344cb8f0f6d84ae29bbd5799689fd87b">
  <xsd:schema xmlns:xsd="http://www.w3.org/2001/XMLSchema" xmlns:xs="http://www.w3.org/2001/XMLSchema" xmlns:p="http://schemas.microsoft.com/office/2006/metadata/properties" xmlns:ns2="3b82e8d9-b8e6-4b83-8d3d-f7e96885fb7f" xmlns:ns3="1194c882-c4a8-46bf-a6a9-291298a9b2ff" targetNamespace="http://schemas.microsoft.com/office/2006/metadata/properties" ma:root="true" ma:fieldsID="9cc1ad60d1a58cf569934b57d6650994" ns2:_="" ns3:_="">
    <xsd:import namespace="3b82e8d9-b8e6-4b83-8d3d-f7e96885fb7f"/>
    <xsd:import namespace="1194c882-c4a8-46bf-a6a9-291298a9b2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82e8d9-b8e6-4b83-8d3d-f7e96885fb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c91c1ac-1d4a-4ee0-b6f1-7f210fb869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94c882-c4a8-46bf-a6a9-291298a9b2f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2c8055f-0478-40f7-8ce5-473482407180}" ma:internalName="TaxCatchAll" ma:showField="CatchAllData" ma:web="1194c882-c4a8-46bf-a6a9-291298a9b2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194c882-c4a8-46bf-a6a9-291298a9b2ff" xsi:nil="true"/>
    <lcf76f155ced4ddcb4097134ff3c332f xmlns="3b82e8d9-b8e6-4b83-8d3d-f7e96885fb7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A9AD7B6-D9DE-45BC-9F4C-B12E75FC9986}"/>
</file>

<file path=customXml/itemProps2.xml><?xml version="1.0" encoding="utf-8"?>
<ds:datastoreItem xmlns:ds="http://schemas.openxmlformats.org/officeDocument/2006/customXml" ds:itemID="{923183C7-E139-441E-BD6C-ED634DBDF1F8}"/>
</file>

<file path=customXml/itemProps3.xml><?xml version="1.0" encoding="utf-8"?>
<ds:datastoreItem xmlns:ds="http://schemas.openxmlformats.org/officeDocument/2006/customXml" ds:itemID="{7178A9A1-4F1E-4424-B678-0AC17FB666AC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861</Words>
  <Application>Microsoft Macintosh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Social Media Design Guide</vt:lpstr>
      <vt:lpstr>PowerPoint Presentation</vt:lpstr>
      <vt:lpstr>PowerPoint Presentation</vt:lpstr>
      <vt:lpstr>PowerPoint Presentation</vt:lpstr>
      <vt:lpstr>PowerPoint Presentation</vt:lpstr>
      <vt:lpstr>Brand Identity &amp; Visual Language</vt:lpstr>
      <vt:lpstr>Visual Elements &amp; Composition</vt:lpstr>
      <vt:lpstr>Post Types &amp; Their Visual Execution</vt:lpstr>
      <vt:lpstr>Post Types &amp; Their Visual Execution</vt:lpstr>
      <vt:lpstr>Post Types &amp; Their Visual Execution</vt:lpstr>
      <vt:lpstr>Post Types &amp; Their Visual Execution</vt:lpstr>
      <vt:lpstr>Post Types &amp; Their Visual Execution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Haworth</dc:creator>
  <cp:lastModifiedBy>Lauren Haworth</cp:lastModifiedBy>
  <cp:revision>1</cp:revision>
  <dcterms:created xsi:type="dcterms:W3CDTF">2025-03-14T07:35:56Z</dcterms:created>
  <dcterms:modified xsi:type="dcterms:W3CDTF">2025-03-14T08:20:13Z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0x010100D678E2D4CE23E2418B3CBD09E6BDD824</vt:lpwstr>
  </property>
</Properties>
</file>